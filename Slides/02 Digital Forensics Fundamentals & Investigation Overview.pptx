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9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2BFC9-F7D3-4B08-B31D-C34A1CE8FC9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29C39-7B17-41B0-B06A-5B19513E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2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29C39-7B17-41B0-B06A-5B19513EF3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34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07444-9C04-45F9-B5BC-40DDB74312F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6398342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29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CB7E-E119-48F7-AB6D-95404D8BFDF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0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95D54-F905-4C8D-96BD-D565D885761B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7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86530-0A18-4EE9-9495-86AD48A667B9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3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3E58-641E-406B-8D9F-7191072D20E6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9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46922-DC32-47AB-AA92-47EE5E89FB7A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3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4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0EFAE-839D-4D6A-8D19-5F1632198C7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3A018-4E95-404E-A6DA-6CB9B72AFE60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2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816B-0846-48F2-B764-A9138AD0C8B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0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E7AD-4E0F-40F5-B1F6-2F9144023E2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1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85AF8-D129-4ECC-9397-FBFF1AA4351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@0xgbreil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B2523-E403-40E0-A7E0-F65795EF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55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FBAA-C0E2-4D42-A5C0-91EDB100803F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@0xgbreil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19200" y="2702828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Moudel</a:t>
            </a:r>
            <a:r>
              <a:rPr lang="en-US" sz="2800" dirty="0"/>
              <a:t> 1 - Introduction to Data Acquisition</a:t>
            </a:r>
          </a:p>
        </p:txBody>
      </p:sp>
    </p:spTree>
    <p:extLst>
      <p:ext uri="{BB962C8B-B14F-4D97-AF65-F5344CB8AC3E}">
        <p14:creationId xmlns:p14="http://schemas.microsoft.com/office/powerpoint/2010/main" val="227885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26580" y="622012"/>
            <a:ext cx="3607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3600" dirty="0" smtClean="0"/>
              <a:t>  </a:t>
            </a:r>
            <a:r>
              <a:rPr lang="en-US" sz="3600" dirty="0" smtClean="0"/>
              <a:t>Table </a:t>
            </a:r>
            <a:r>
              <a:rPr lang="en-US" sz="3600" dirty="0"/>
              <a:t>of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447799"/>
            <a:ext cx="6172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Overview of Digital Forensics &amp; Its </a:t>
            </a:r>
            <a:r>
              <a:rPr lang="en-US" sz="2400" dirty="0" smtClean="0"/>
              <a:t>Process</a:t>
            </a:r>
            <a:endParaRPr lang="ar-EG" sz="2400" dirty="0" smtClean="0"/>
          </a:p>
          <a:p>
            <a:endParaRPr lang="en-US" sz="2400" dirty="0"/>
          </a:p>
          <a:p>
            <a:r>
              <a:rPr lang="en-US" sz="2400" dirty="0"/>
              <a:t>• Definition of Data </a:t>
            </a:r>
            <a:r>
              <a:rPr lang="en-US" sz="2400" dirty="0" smtClean="0"/>
              <a:t>Acquisition</a:t>
            </a:r>
            <a:endParaRPr lang="ar-EG" sz="2400" dirty="0" smtClean="0"/>
          </a:p>
          <a:p>
            <a:endParaRPr lang="en-US" sz="2400" dirty="0"/>
          </a:p>
          <a:p>
            <a:r>
              <a:rPr lang="en-US" sz="2400" dirty="0"/>
              <a:t>• Types of Data </a:t>
            </a:r>
            <a:r>
              <a:rPr lang="en-US" sz="2400" dirty="0" smtClean="0"/>
              <a:t>Acquisition</a:t>
            </a:r>
            <a:endParaRPr lang="ar-EG" sz="2400" dirty="0" smtClean="0"/>
          </a:p>
          <a:p>
            <a:endParaRPr lang="ar-EG" sz="2400" dirty="0" smtClean="0"/>
          </a:p>
          <a:p>
            <a:r>
              <a:rPr lang="en-US" sz="2400" dirty="0"/>
              <a:t>• Order of </a:t>
            </a:r>
            <a:r>
              <a:rPr lang="en-US" sz="2400" dirty="0" smtClean="0"/>
              <a:t>Volatility</a:t>
            </a:r>
            <a:endParaRPr lang="ar-EG" sz="2400" dirty="0" smtClean="0"/>
          </a:p>
          <a:p>
            <a:endParaRPr lang="ar-EG" sz="2400" dirty="0"/>
          </a:p>
          <a:p>
            <a:r>
              <a:rPr lang="en-US" sz="2400" dirty="0"/>
              <a:t>• Copy vs Cloning vs </a:t>
            </a:r>
            <a:r>
              <a:rPr lang="en-US" sz="2400" dirty="0" smtClean="0"/>
              <a:t>Imaging</a:t>
            </a:r>
            <a:endParaRPr lang="ar-EG" sz="2400" dirty="0" smtClean="0"/>
          </a:p>
          <a:p>
            <a:endParaRPr lang="ar-EG" sz="2400" dirty="0" smtClean="0"/>
          </a:p>
          <a:p>
            <a:r>
              <a:rPr lang="en-US" sz="2400" dirty="0"/>
              <a:t>• Image file </a:t>
            </a:r>
            <a:r>
              <a:rPr lang="en-US" sz="2400" dirty="0" smtClean="0"/>
              <a:t>formats</a:t>
            </a:r>
            <a:endParaRPr lang="ar-EG" sz="2400" dirty="0" smtClean="0"/>
          </a:p>
          <a:p>
            <a:endParaRPr lang="en-US" sz="2400" dirty="0"/>
          </a:p>
          <a:p>
            <a:r>
              <a:rPr lang="en-US" sz="2400" dirty="0"/>
              <a:t>• Risks During the Acquisition </a:t>
            </a:r>
            <a:r>
              <a:rPr lang="en-US" sz="2400" dirty="0" smtClean="0"/>
              <a:t>Process</a:t>
            </a:r>
            <a:endParaRPr lang="ar-EG" sz="24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416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270352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Introduction to Digital Forensics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990600"/>
            <a:ext cx="7162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Digital Forensics is the science of collecting, preserving, analyzing, and presenting digital evidence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 goal is to understand what happened during a security incident while maintaining evidence integrity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Used in cases such as breaches, data exfiltration, malware infections, or suspicious activity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 Digital Forensics Investigator acts like a digital detective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Key questions:</a:t>
            </a:r>
            <a:br>
              <a:rPr lang="en-US" dirty="0"/>
            </a:br>
            <a:r>
              <a:rPr lang="en-US" dirty="0"/>
              <a:t>- How did the attack start?</a:t>
            </a:r>
            <a:br>
              <a:rPr lang="en-US" dirty="0"/>
            </a:br>
            <a:r>
              <a:rPr lang="en-US" dirty="0"/>
              <a:t>- What actions did the attacker perform?</a:t>
            </a:r>
            <a:br>
              <a:rPr lang="en-US" dirty="0"/>
            </a:br>
            <a:r>
              <a:rPr lang="en-US" dirty="0"/>
              <a:t>- What systems were affected?</a:t>
            </a:r>
            <a:br>
              <a:rPr lang="en-US" dirty="0"/>
            </a:br>
            <a:r>
              <a:rPr lang="en-US" dirty="0"/>
              <a:t>- Was there lateral movement or pivoting</a:t>
            </a:r>
            <a:r>
              <a:rPr lang="en-US" dirty="0" smtClean="0"/>
              <a:t>?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SANS definition focuses on identification, collection, preservation, analysis, and documentation of digital evidence.</a:t>
            </a:r>
          </a:p>
        </p:txBody>
      </p:sp>
    </p:spTree>
    <p:extLst>
      <p:ext uri="{BB962C8B-B14F-4D97-AF65-F5344CB8AC3E}">
        <p14:creationId xmlns:p14="http://schemas.microsoft.com/office/powerpoint/2010/main" val="106134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22860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Digital Forensics in Cybersecurity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894" y="759009"/>
            <a:ext cx="7391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Digital Forensics is closely related to Incident Response (DFIR</a:t>
            </a:r>
            <a:r>
              <a:rPr lang="en-US" dirty="0" smtClean="0"/>
              <a:t>).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Usually performed within SOC environments (SOC Level 3 / Incident Response teams</a:t>
            </a:r>
            <a:r>
              <a:rPr lang="en-US" dirty="0" smtClean="0"/>
              <a:t>).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Helps understand attacker behavior and identify root cause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Common investigation scenarios:</a:t>
            </a:r>
            <a:br>
              <a:rPr lang="en-US" dirty="0"/>
            </a:br>
            <a:r>
              <a:rPr lang="en-US" dirty="0"/>
              <a:t>- Insider threats</a:t>
            </a:r>
            <a:br>
              <a:rPr lang="en-US" dirty="0"/>
            </a:br>
            <a:r>
              <a:rPr lang="en-US" dirty="0"/>
              <a:t>- External attackers</a:t>
            </a:r>
            <a:br>
              <a:rPr lang="en-US" dirty="0"/>
            </a:br>
            <a:r>
              <a:rPr lang="en-US" dirty="0"/>
              <a:t>- Malware or backdoors</a:t>
            </a:r>
            <a:br>
              <a:rPr lang="en-US" dirty="0"/>
            </a:br>
            <a:r>
              <a:rPr lang="en-US" dirty="0"/>
              <a:t>- Suspicious downloads or user </a:t>
            </a:r>
            <a:r>
              <a:rPr lang="en-US" dirty="0" smtClean="0"/>
              <a:t>activity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Digital evidence is often latent (not directly visible</a:t>
            </a:r>
            <a:r>
              <a:rPr lang="en-US" dirty="0" smtClean="0"/>
              <a:t>).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Investigations rely on artifacts such as</a:t>
            </a:r>
            <a:r>
              <a:rPr lang="en-US" dirty="0" smtClean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 Logs</a:t>
            </a:r>
            <a:br>
              <a:rPr lang="en-US" dirty="0"/>
            </a:br>
            <a:r>
              <a:rPr lang="en-US" dirty="0"/>
              <a:t>- Network traffic</a:t>
            </a:r>
            <a:br>
              <a:rPr lang="en-US" dirty="0"/>
            </a:br>
            <a:r>
              <a:rPr lang="en-US" dirty="0"/>
              <a:t>- SIEM alerts</a:t>
            </a:r>
            <a:br>
              <a:rPr lang="en-US" dirty="0"/>
            </a:br>
            <a:r>
              <a:rPr lang="en-US" dirty="0"/>
              <a:t>- Disk data</a:t>
            </a:r>
          </a:p>
        </p:txBody>
      </p:sp>
    </p:spTree>
    <p:extLst>
      <p:ext uri="{BB962C8B-B14F-4D97-AF65-F5344CB8AC3E}">
        <p14:creationId xmlns:p14="http://schemas.microsoft.com/office/powerpoint/2010/main" val="351556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1823" y="18611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Evidence Handling &amp; Investigation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143" y="990600"/>
            <a:ext cx="828135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Evidence must be collected and preserved without modification</a:t>
            </a:r>
            <a:r>
              <a:rPr lang="en-US" sz="2000" dirty="0" smtClean="0"/>
              <a:t>.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Investigations must rely on direct evidence, not assumptions</a:t>
            </a:r>
            <a:r>
              <a:rPr lang="en-US" sz="2000" dirty="0" smtClean="0"/>
              <a:t>.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Analysis results should be reproducible and validated by multiple analysts or tools</a:t>
            </a:r>
            <a:r>
              <a:rPr lang="en-US" sz="2000" dirty="0" smtClean="0"/>
              <a:t>.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Evidence integrity must be verified using hashing</a:t>
            </a:r>
            <a:r>
              <a:rPr lang="en-US" sz="2000" dirty="0" smtClean="0"/>
              <a:t>.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Document the digital crime scene:</a:t>
            </a:r>
            <a:br>
              <a:rPr lang="en-US" sz="2000" dirty="0"/>
            </a:br>
            <a:r>
              <a:rPr lang="en-US" sz="2000" dirty="0"/>
              <a:t>- Photos</a:t>
            </a:r>
            <a:br>
              <a:rPr lang="en-US" sz="2000" dirty="0"/>
            </a:br>
            <a:r>
              <a:rPr lang="en-US" sz="2000" dirty="0"/>
              <a:t>- Video recording</a:t>
            </a:r>
            <a:br>
              <a:rPr lang="en-US" sz="2000" dirty="0"/>
            </a:br>
            <a:r>
              <a:rPr lang="en-US" sz="2000" dirty="0"/>
              <a:t>- System state capture</a:t>
            </a:r>
            <a:br>
              <a:rPr lang="en-US" sz="2000" dirty="0"/>
            </a:br>
            <a:r>
              <a:rPr lang="en-US" sz="2000" dirty="0"/>
              <a:t>• Perform E-Discovery to identify and collect electronically stored information (ESI).</a:t>
            </a:r>
            <a:br>
              <a:rPr lang="en-US" sz="2000" dirty="0"/>
            </a:br>
            <a:r>
              <a:rPr lang="en-US" sz="2000" dirty="0"/>
              <a:t>• Final output: Digital Forensics Report containing findings, tools used, and supporting evidence.</a:t>
            </a:r>
          </a:p>
        </p:txBody>
      </p:sp>
    </p:spTree>
    <p:extLst>
      <p:ext uri="{BB962C8B-B14F-4D97-AF65-F5344CB8AC3E}">
        <p14:creationId xmlns:p14="http://schemas.microsoft.com/office/powerpoint/2010/main" val="84640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3048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E-Discovery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1295400"/>
            <a:ext cx="8915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E-Discovery stands for Electronically Stored Information (ESI</a:t>
            </a:r>
            <a:r>
              <a:rPr lang="en-US" dirty="0" smtClean="0"/>
              <a:t>).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It refers to any data or information stored digitally on devices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Any data stored on hard disks, servers, or databases is considered part of E-Discovery.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E-Discovery is the process of identifying and collecting digital data that may serve as evidence during an investigation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This includes filtering data and extracting all relevant generated data related to the incident, such as:</a:t>
            </a:r>
            <a:br>
              <a:rPr lang="en-US" dirty="0"/>
            </a:br>
            <a:r>
              <a:rPr lang="en-US" dirty="0"/>
              <a:t>- Database data</a:t>
            </a:r>
            <a:br>
              <a:rPr lang="en-US" dirty="0"/>
            </a:br>
            <a:r>
              <a:rPr lang="en-US" dirty="0"/>
              <a:t>- Files stored on hard disks</a:t>
            </a:r>
            <a:br>
              <a:rPr lang="en-US" dirty="0"/>
            </a:br>
            <a:r>
              <a:rPr lang="en-US" dirty="0"/>
              <a:t>- Data stored on servers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 main goal of E-Discovery is to collect digital evidence in an organized way so it can be used later in analysis, investigation, or legal proceedings.</a:t>
            </a:r>
          </a:p>
        </p:txBody>
      </p:sp>
    </p:spTree>
    <p:extLst>
      <p:ext uri="{BB962C8B-B14F-4D97-AF65-F5344CB8AC3E}">
        <p14:creationId xmlns:p14="http://schemas.microsoft.com/office/powerpoint/2010/main" val="170161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152400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Timeline Analysis in Digital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62000"/>
            <a:ext cx="8686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Timeline is a key concept in digital forensics investigations.</a:t>
            </a:r>
            <a:br>
              <a:rPr lang="en-US" dirty="0"/>
            </a:br>
            <a:r>
              <a:rPr lang="en-US" dirty="0"/>
              <a:t>• It represents the sequence of events over time during an incident.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When collecting evidence, we focus on specific time windows instead of collecting unnecessary data.</a:t>
            </a:r>
            <a:br>
              <a:rPr lang="en-US" dirty="0"/>
            </a:br>
            <a:r>
              <a:rPr lang="en-US" dirty="0"/>
              <a:t>• Example:</a:t>
            </a:r>
            <a:br>
              <a:rPr lang="en-US" dirty="0"/>
            </a:br>
            <a:r>
              <a:rPr lang="en-US" dirty="0"/>
              <a:t>- If the attack happened at 8 PM, the priority is to collect data around that period (e.g., 7 PM – 9 PM).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Timeline data is often represented visually to show activity patterns and traffic peaks.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Time standardization is important:</a:t>
            </a:r>
            <a:br>
              <a:rPr lang="en-US" dirty="0"/>
            </a:br>
            <a:r>
              <a:rPr lang="en-US" dirty="0"/>
              <a:t>- Always use UTC (Universal Time Coordinated) as a reference.</a:t>
            </a:r>
            <a:br>
              <a:rPr lang="en-US" dirty="0"/>
            </a:br>
            <a:r>
              <a:rPr lang="en-US" dirty="0"/>
              <a:t>- Convert later to local time zones if needed.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Using UTC avoids confusion caused by time zone differences and helps investigators correlate events accurately.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Timeline analysis helps investigators organize, correlate, and understand events during an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58625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4415" y="609600"/>
            <a:ext cx="571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Reviewing Logs &amp; Network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166" y="1719532"/>
            <a:ext cx="8686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Event Logs </a:t>
            </a:r>
            <a:r>
              <a:rPr lang="en-US" sz="2000" dirty="0" smtClean="0"/>
              <a:t>Review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Network Traffic </a:t>
            </a:r>
            <a:r>
              <a:rPr lang="en-US" sz="2000" dirty="0" smtClean="0"/>
              <a:t>Analysis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Local vs Centralized </a:t>
            </a:r>
            <a:r>
              <a:rPr lang="en-US" sz="2000" dirty="0" smtClean="0"/>
              <a:t>Logging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Security Appliances:</a:t>
            </a:r>
            <a:br>
              <a:rPr lang="en-US" sz="2000" dirty="0"/>
            </a:br>
            <a:r>
              <a:rPr lang="en-US" sz="2000" dirty="0"/>
              <a:t>- Firewall</a:t>
            </a:r>
            <a:br>
              <a:rPr lang="en-US" sz="2000" dirty="0"/>
            </a:br>
            <a:r>
              <a:rPr lang="en-US" sz="2000" dirty="0"/>
              <a:t>- Proxy</a:t>
            </a:r>
            <a:br>
              <a:rPr lang="en-US" sz="2000" dirty="0"/>
            </a:br>
            <a:r>
              <a:rPr lang="en-US" sz="2000" dirty="0"/>
              <a:t>- Router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smtClean="0"/>
              <a:t>Switch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Event Correlation</a:t>
            </a:r>
          </a:p>
        </p:txBody>
      </p:sp>
    </p:spTree>
    <p:extLst>
      <p:ext uri="{BB962C8B-B14F-4D97-AF65-F5344CB8AC3E}">
        <p14:creationId xmlns:p14="http://schemas.microsoft.com/office/powerpoint/2010/main" val="336544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1732" y="195590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Brief History of Digital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997673"/>
            <a:ext cx="838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Digital Forensics started around 1984 within Law Enforcement agencies</a:t>
            </a:r>
            <a:r>
              <a:rPr lang="en-US" dirty="0" smtClean="0"/>
              <a:t>.</a:t>
            </a:r>
            <a:endParaRPr lang="ar-EG" dirty="0" smtClean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Early work relied on individual experience without clear standards or legal frameworks.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Around 1990:</a:t>
            </a:r>
            <a:br>
              <a:rPr lang="en-US" dirty="0"/>
            </a:br>
            <a:r>
              <a:rPr lang="en-US" dirty="0"/>
              <a:t>- First laws and regulations for handling digital evidence began to appear.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1998:</a:t>
            </a:r>
            <a:br>
              <a:rPr lang="en-US" dirty="0"/>
            </a:br>
            <a:r>
              <a:rPr lang="en-US" dirty="0"/>
              <a:t>- ACPO (UK) released early guidelines for digital evidence collection and handling.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Evolution:</a:t>
            </a:r>
            <a:br>
              <a:rPr lang="en-US" dirty="0"/>
            </a:br>
            <a:r>
              <a:rPr lang="en-US" dirty="0"/>
              <a:t>- 1984 → Early experimentation</a:t>
            </a:r>
            <a:br>
              <a:rPr lang="en-US" dirty="0"/>
            </a:br>
            <a:r>
              <a:rPr lang="en-US" dirty="0"/>
              <a:t>- 1990 → Legal regulation</a:t>
            </a:r>
            <a:br>
              <a:rPr lang="en-US" dirty="0"/>
            </a:br>
            <a:r>
              <a:rPr lang="en-US" dirty="0"/>
              <a:t>- 1998 → Standardized procedures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Over time, Digital Forensics evolved into a structured discipline and later expanded into DFIR.</a:t>
            </a:r>
          </a:p>
        </p:txBody>
      </p:sp>
    </p:spTree>
    <p:extLst>
      <p:ext uri="{BB962C8B-B14F-4D97-AF65-F5344CB8AC3E}">
        <p14:creationId xmlns:p14="http://schemas.microsoft.com/office/powerpoint/2010/main" val="101422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373811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Digital Forensics Case </a:t>
            </a:r>
            <a:r>
              <a:rPr lang="en-US" sz="2400" dirty="0" smtClean="0"/>
              <a:t>Example </a:t>
            </a:r>
            <a:r>
              <a:rPr lang="en-US" sz="2400" dirty="0"/>
              <a:t>(BTK Killer)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914400"/>
            <a:ext cx="8001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One of the famous cases showing the importance of Digital Forensics is the BTK Killer case.</a:t>
            </a:r>
            <a:br>
              <a:rPr lang="en-US" dirty="0"/>
            </a:br>
            <a:r>
              <a:rPr lang="en-US" dirty="0"/>
              <a:t>• Dennis Rader, a serial killer active between 1974–1991, sent messages to media and police.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 2005, he sent a Floppy Disk to the police.</a:t>
            </a:r>
            <a:br>
              <a:rPr lang="en-US" dirty="0"/>
            </a:br>
            <a:r>
              <a:rPr lang="en-US" dirty="0"/>
              <a:t>• Investigators recovered deleted files and analyzed file metadata.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Metadata revealed:</a:t>
            </a:r>
            <a:br>
              <a:rPr lang="en-US" dirty="0"/>
            </a:br>
            <a:r>
              <a:rPr lang="en-US" dirty="0"/>
              <a:t>- Deleted Word documents</a:t>
            </a:r>
            <a:br>
              <a:rPr lang="en-US" dirty="0"/>
            </a:br>
            <a:r>
              <a:rPr lang="en-US" dirty="0"/>
              <a:t>- References to Christ Lutheran Church</a:t>
            </a:r>
            <a:br>
              <a:rPr lang="en-US" dirty="0"/>
            </a:br>
            <a:r>
              <a:rPr lang="en-US" dirty="0"/>
              <a:t>- Last modified by a user named “Dennis”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Investigators linked the metadata to Dennis Rader and identified him.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Key Lesson:</a:t>
            </a:r>
            <a:br>
              <a:rPr lang="en-US" dirty="0"/>
            </a:br>
            <a:r>
              <a:rPr lang="en-US" dirty="0"/>
              <a:t>- Digital evidence and metadata analysis can play a critical role in solving real investigations.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934486"/>
            <a:ext cx="2770584" cy="141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1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333555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Digital Forensics Case Example (Boston Marathon Bombing)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38200"/>
            <a:ext cx="8458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Boston Marathon Bombing (USA, 2013) is another major case highlighting the role of Digital Forensics.</a:t>
            </a:r>
            <a:br>
              <a:rPr lang="en-US" dirty="0"/>
            </a:br>
            <a:r>
              <a:rPr lang="en-US" dirty="0"/>
              <a:t>• During the marathon, two explosions occurred causing multiple casualties and injuries.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Challenge:</a:t>
            </a:r>
            <a:br>
              <a:rPr lang="en-US" dirty="0"/>
            </a:br>
            <a:r>
              <a:rPr lang="en-US" dirty="0"/>
              <a:t>- Thousands of people were present.</a:t>
            </a:r>
            <a:br>
              <a:rPr lang="en-US" dirty="0"/>
            </a:br>
            <a:r>
              <a:rPr lang="en-US" dirty="0"/>
              <a:t>- Suspects were initially unknown.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Investigation relied heavily on digital evidence:</a:t>
            </a:r>
            <a:br>
              <a:rPr lang="en-US" dirty="0"/>
            </a:br>
            <a:r>
              <a:rPr lang="en-US" dirty="0"/>
              <a:t>- CCTV footage</a:t>
            </a:r>
            <a:br>
              <a:rPr lang="en-US" dirty="0"/>
            </a:br>
            <a:r>
              <a:rPr lang="en-US" dirty="0"/>
              <a:t>- Photos from attendees</a:t>
            </a:r>
            <a:br>
              <a:rPr lang="en-US" dirty="0"/>
            </a:br>
            <a:r>
              <a:rPr lang="en-US" dirty="0"/>
              <a:t>- Mobile phone videos</a:t>
            </a:r>
            <a:br>
              <a:rPr lang="en-US" dirty="0"/>
            </a:br>
            <a:r>
              <a:rPr lang="en-US" dirty="0"/>
              <a:t>- Other digital data sources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Investigators analyzed large amounts of media by:</a:t>
            </a:r>
            <a:br>
              <a:rPr lang="en-US" dirty="0"/>
            </a:br>
            <a:r>
              <a:rPr lang="en-US" dirty="0"/>
              <a:t>- Frame-by-frame video analysis</a:t>
            </a:r>
            <a:br>
              <a:rPr lang="en-US" dirty="0"/>
            </a:br>
            <a:r>
              <a:rPr lang="en-US" dirty="0"/>
              <a:t>- Tracking movements of individuals</a:t>
            </a:r>
            <a:br>
              <a:rPr lang="en-US" dirty="0"/>
            </a:br>
            <a:r>
              <a:rPr lang="en-US" dirty="0"/>
              <a:t>- Comparing images from different angles</a:t>
            </a:r>
            <a:br>
              <a:rPr lang="en-US" dirty="0"/>
            </a:br>
            <a:r>
              <a:rPr lang="en-US" dirty="0"/>
              <a:t>- Building a timeline of events</a:t>
            </a:r>
            <a:br>
              <a:rPr lang="en-US" dirty="0"/>
            </a:br>
            <a:r>
              <a:rPr lang="en-US" dirty="0" smtClean="0"/>
              <a:t>- </a:t>
            </a:r>
            <a:r>
              <a:rPr lang="en-US" dirty="0"/>
              <a:t>Investigators identified and tracked the suspects using digital evidence.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286000"/>
            <a:ext cx="3118277" cy="220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7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3810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Digital Forensics </a:t>
            </a:r>
            <a:r>
              <a:rPr lang="ar-EG" sz="2800" dirty="0"/>
              <a:t>&amp;</a:t>
            </a:r>
            <a:r>
              <a:rPr lang="en-US" sz="2800" dirty="0" smtClean="0"/>
              <a:t> </a:t>
            </a:r>
            <a:r>
              <a:rPr lang="en-US" sz="2800" dirty="0"/>
              <a:t>Incident Response (DFIR)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143000"/>
            <a:ext cx="7772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DFIR = Digital Forensics + Incident Response.</a:t>
            </a:r>
            <a:br>
              <a:rPr lang="en-US" dirty="0"/>
            </a:br>
            <a:r>
              <a:rPr lang="en-US" dirty="0"/>
              <a:t>• Both work together to investigate security incidents.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Incident Response:</a:t>
            </a:r>
            <a:br>
              <a:rPr lang="en-US" dirty="0"/>
            </a:br>
            <a:r>
              <a:rPr lang="en-US" dirty="0"/>
              <a:t>- Fast analysis</a:t>
            </a:r>
            <a:br>
              <a:rPr lang="en-US" dirty="0"/>
            </a:br>
            <a:r>
              <a:rPr lang="en-US" dirty="0"/>
              <a:t>- Contain and stop the attack</a:t>
            </a:r>
            <a:br>
              <a:rPr lang="en-US" dirty="0"/>
            </a:br>
            <a:r>
              <a:rPr lang="en-US" dirty="0"/>
              <a:t>- Quick root cause identification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Digital Forensics:</a:t>
            </a:r>
            <a:br>
              <a:rPr lang="en-US" dirty="0"/>
            </a:br>
            <a:r>
              <a:rPr lang="en-US" dirty="0"/>
              <a:t>- Deep investigation</a:t>
            </a:r>
            <a:br>
              <a:rPr lang="en-US" dirty="0"/>
            </a:br>
            <a:r>
              <a:rPr lang="en-US" dirty="0"/>
              <a:t>- Focus on evidence and understanding the incident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Shared areas:</a:t>
            </a:r>
            <a:br>
              <a:rPr lang="en-US" dirty="0"/>
            </a:br>
            <a:r>
              <a:rPr lang="en-US" dirty="0"/>
              <a:t>- Evidence collection</a:t>
            </a:r>
            <a:br>
              <a:rPr lang="en-US" dirty="0"/>
            </a:br>
            <a:r>
              <a:rPr lang="en-US" dirty="0"/>
              <a:t>- Evidence preservation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Proper evidence handling is important for legal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264163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47932" y="350808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Digital Forensics </a:t>
            </a:r>
            <a:r>
              <a:rPr lang="ar-EG" sz="2800" dirty="0"/>
              <a:t>&amp;</a:t>
            </a:r>
            <a:r>
              <a:rPr lang="en-US" sz="2800" dirty="0" smtClean="0"/>
              <a:t> </a:t>
            </a:r>
            <a:r>
              <a:rPr lang="en-US" sz="2800" dirty="0"/>
              <a:t>Threat Hunting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447800"/>
            <a:ext cx="762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• Threat Hunting is a key function inside the SOC</a:t>
            </a:r>
            <a:r>
              <a:rPr lang="en-US" sz="2000" dirty="0" smtClean="0"/>
              <a:t>.</a:t>
            </a:r>
            <a:endParaRPr lang="ar-EG" sz="2000" dirty="0" smtClean="0"/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Goal: search for hidden threats that monitoring tools may miss.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Similarity:</a:t>
            </a:r>
            <a:br>
              <a:rPr lang="en-US" sz="2000" dirty="0"/>
            </a:br>
            <a:r>
              <a:rPr lang="en-US" sz="2000" dirty="0"/>
              <a:t>- Both use hypotheses and evidence to investigate activity.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Difference:</a:t>
            </a:r>
            <a:br>
              <a:rPr lang="en-US" sz="2000" dirty="0"/>
            </a:br>
            <a:r>
              <a:rPr lang="en-US" sz="2000" dirty="0"/>
              <a:t>- Threat Hunting focuses on detection and discovery.</a:t>
            </a:r>
            <a:br>
              <a:rPr lang="en-US" sz="2000" dirty="0"/>
            </a:br>
            <a:r>
              <a:rPr lang="en-US" sz="2000" dirty="0"/>
              <a:t>- Digital Forensics focuses on evidence preservation and investigation.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• Digital Forensics requires proper evidence handling to maintain credibility and prevent claims of tampering.</a:t>
            </a:r>
          </a:p>
        </p:txBody>
      </p:sp>
    </p:spTree>
    <p:extLst>
      <p:ext uri="{BB962C8B-B14F-4D97-AF65-F5344CB8AC3E}">
        <p14:creationId xmlns:p14="http://schemas.microsoft.com/office/powerpoint/2010/main" val="168162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304800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Digital </a:t>
            </a:r>
            <a:r>
              <a:rPr lang="en-US" sz="2800" dirty="0" smtClean="0"/>
              <a:t>Forensics &amp;</a:t>
            </a:r>
            <a:r>
              <a:rPr lang="ar-EG" sz="2800" dirty="0" smtClean="0"/>
              <a:t>  </a:t>
            </a:r>
            <a:r>
              <a:rPr lang="en-US" sz="2800" dirty="0"/>
              <a:t>Malware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90600"/>
            <a:ext cx="777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Malware Analysis:</a:t>
            </a:r>
            <a:br>
              <a:rPr lang="en-US" dirty="0"/>
            </a:br>
            <a:r>
              <a:rPr lang="en-US" dirty="0"/>
              <a:t>- Analyzes malware behavior.</a:t>
            </a:r>
            <a:br>
              <a:rPr lang="en-US" dirty="0"/>
            </a:br>
            <a:r>
              <a:rPr lang="en-US" dirty="0"/>
              <a:t>- Requires proper acquisition and extraction (memory, files, network traffic).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Investigation Collaboration (Investigation Triad):</a:t>
            </a:r>
            <a:br>
              <a:rPr lang="en-US" dirty="0"/>
            </a:br>
            <a:r>
              <a:rPr lang="en-US" dirty="0"/>
              <a:t>- Digital Forensics</a:t>
            </a:r>
            <a:br>
              <a:rPr lang="en-US" dirty="0"/>
            </a:br>
            <a:r>
              <a:rPr lang="en-US" dirty="0"/>
              <a:t>- Incident Response / SOC</a:t>
            </a:r>
            <a:br>
              <a:rPr lang="en-US" dirty="0"/>
            </a:br>
            <a:r>
              <a:rPr lang="en-US" dirty="0"/>
              <a:t>- Vulnerability &amp; Risk Management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Roles:</a:t>
            </a:r>
            <a:br>
              <a:rPr lang="en-US" dirty="0"/>
            </a:br>
            <a:r>
              <a:rPr lang="en-US" dirty="0"/>
              <a:t>- Vulnerability/Risk teams validate system security and reduce investigation assumptions.</a:t>
            </a:r>
            <a:br>
              <a:rPr lang="en-US" dirty="0"/>
            </a:br>
            <a:r>
              <a:rPr lang="en-US" dirty="0"/>
              <a:t>- SOC / Incident Response provides logs, alerts, and detection data (SIEM, EDR, NDR).</a:t>
            </a:r>
            <a:br>
              <a:rPr lang="en-US" dirty="0"/>
            </a:br>
            <a:r>
              <a:rPr lang="en-US" dirty="0"/>
              <a:t>- Digital Forensics collects and analyzes reliable evidence.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Key Idea:</a:t>
            </a:r>
            <a:br>
              <a:rPr lang="en-US" dirty="0"/>
            </a:br>
            <a:r>
              <a:rPr lang="en-US" dirty="0"/>
              <a:t>- Digital investigations are team efforts.</a:t>
            </a:r>
            <a:br>
              <a:rPr lang="en-US" dirty="0"/>
            </a:br>
            <a:r>
              <a:rPr lang="en-US" dirty="0"/>
              <a:t>- Digital Forensics connects and validates evidence across all domains.</a:t>
            </a:r>
          </a:p>
        </p:txBody>
      </p:sp>
    </p:spTree>
    <p:extLst>
      <p:ext uri="{BB962C8B-B14F-4D97-AF65-F5344CB8AC3E}">
        <p14:creationId xmlns:p14="http://schemas.microsoft.com/office/powerpoint/2010/main" val="338293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6366" y="381000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Investigations Triad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55298"/>
            <a:ext cx="8839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Investigations Triad = 3 teams working together to complete an investigation.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1) Vulnerability &amp; Risk Management</a:t>
            </a:r>
            <a:br>
              <a:rPr lang="en-US" dirty="0"/>
            </a:br>
            <a:r>
              <a:rPr lang="en-US" dirty="0"/>
              <a:t>- Validate system security and integrity.</a:t>
            </a:r>
            <a:br>
              <a:rPr lang="en-US" dirty="0"/>
            </a:br>
            <a:r>
              <a:rPr lang="en-US" dirty="0"/>
              <a:t>- Confirm patches, testing, and reduce investigation assumptions.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2) Incident Response / SOC</a:t>
            </a:r>
            <a:br>
              <a:rPr lang="en-US" dirty="0"/>
            </a:br>
            <a:r>
              <a:rPr lang="en-US" dirty="0"/>
              <a:t>- Provide initial evidence.</a:t>
            </a:r>
            <a:br>
              <a:rPr lang="en-US" dirty="0"/>
            </a:br>
            <a:r>
              <a:rPr lang="en-US" dirty="0"/>
              <a:t>- Logs, alerts, and detection tools (SIEM, EDR, NDR).</a:t>
            </a:r>
            <a:br>
              <a:rPr lang="en-US" dirty="0"/>
            </a:br>
            <a:r>
              <a:rPr lang="en-US" dirty="0"/>
              <a:t>- Help identify suspicious activity and attacker behavior.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3) Digital Forensics</a:t>
            </a:r>
            <a:br>
              <a:rPr lang="en-US" dirty="0"/>
            </a:br>
            <a:r>
              <a:rPr lang="en-US" dirty="0"/>
              <a:t>- Collect and analyze evidence.</a:t>
            </a:r>
            <a:br>
              <a:rPr lang="en-US" dirty="0"/>
            </a:br>
            <a:r>
              <a:rPr lang="en-US" dirty="0"/>
              <a:t>- Build conclusions based on verified data.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• Key Idea:</a:t>
            </a:r>
            <a:br>
              <a:rPr lang="en-US" dirty="0"/>
            </a:br>
            <a:r>
              <a:rPr lang="en-US" dirty="0"/>
              <a:t>- Digital investigations are collaborative.</a:t>
            </a:r>
            <a:br>
              <a:rPr lang="en-US" dirty="0"/>
            </a:br>
            <a:r>
              <a:rPr lang="en-US" dirty="0"/>
              <a:t>- The Forensics Investigator works with other teams to reach the full picture of the incident.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522891"/>
            <a:ext cx="2856111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2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685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Exercise :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2133600"/>
            <a:ext cx="708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</a:t>
            </a:r>
            <a:r>
              <a:rPr lang="en-US" sz="2400" dirty="0" smtClean="0"/>
              <a:t> Read </a:t>
            </a:r>
            <a:r>
              <a:rPr lang="en-US" sz="2400" dirty="0"/>
              <a:t>the resources below the video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dirty="0" smtClean="0"/>
              <a:t> If </a:t>
            </a:r>
            <a:r>
              <a:rPr lang="en-US" sz="2400" dirty="0"/>
              <a:t>there is any unclear information, search for it.</a:t>
            </a:r>
          </a:p>
        </p:txBody>
      </p:sp>
    </p:spTree>
    <p:extLst>
      <p:ext uri="{BB962C8B-B14F-4D97-AF65-F5344CB8AC3E}">
        <p14:creationId xmlns:p14="http://schemas.microsoft.com/office/powerpoint/2010/main" val="325342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3A68C-09A7-4B97-B6F3-8AB8ECBA14DB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@0xgbreil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B2523-E403-40E0-A7E0-F65795EF65ED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19400" y="2229653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Thanks </a:t>
            </a:r>
            <a:r>
              <a:rPr lang="en-US" sz="3200" dirty="0"/>
              <a:t>for </a:t>
            </a:r>
            <a:r>
              <a:rPr lang="en-US" sz="3200" dirty="0" smtClean="0"/>
              <a:t>Watching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200400" y="3048000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Contact: 0xgbreil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53" y="3153397"/>
            <a:ext cx="190348" cy="1903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420" y="3105180"/>
            <a:ext cx="5080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1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2379</TotalTime>
  <Words>352</Words>
  <Application>Microsoft Office PowerPoint</Application>
  <PresentationFormat>On-screen Show (4:3)</PresentationFormat>
  <Paragraphs>122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</dc:title>
  <dc:creator>s</dc:creator>
  <cp:lastModifiedBy>s</cp:lastModifiedBy>
  <cp:revision>54</cp:revision>
  <dcterms:created xsi:type="dcterms:W3CDTF">2025-06-05T05:35:27Z</dcterms:created>
  <dcterms:modified xsi:type="dcterms:W3CDTF">2026-02-26T14:14:31Z</dcterms:modified>
</cp:coreProperties>
</file>