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2BFC9-F7D3-4B08-B31D-C34A1CE8FC9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29C39-7B17-41B0-B06A-5B19513E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25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29C39-7B17-41B0-B06A-5B19513EF3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34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7444-9C04-45F9-B5BC-40DDB74312F3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6398342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829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CB7E-E119-48F7-AB6D-95404D8BFDFF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0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95D54-F905-4C8D-96BD-D565D885761B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7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6530-0A18-4EE9-9495-86AD48A667B9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3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3E58-641E-406B-8D9F-7191072D20E6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9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6922-DC32-47AB-AA92-47EE5E89FB7A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38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4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EFAE-839D-4D6A-8D19-5F1632198C74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0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A018-4E95-404E-A6DA-6CB9B72AFE60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2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816B-0846-48F2-B764-A9138AD0C8BA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0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E7AD-4E0F-40F5-B1F6-2F9144023E28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10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85AF8-D129-4ECC-9397-FBFF1AA43514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55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10634" y="2209800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 </a:t>
            </a:r>
            <a:r>
              <a:rPr lang="en-US" sz="3600" dirty="0"/>
              <a:t>Digital Forensics &amp; Incident Response</a:t>
            </a:r>
          </a:p>
          <a:p>
            <a:pPr algn="ctr"/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52955" y="3418119"/>
            <a:ext cx="2711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Introduction to DFIR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FBAA-C0E2-4D42-A5C0-91EDB100803F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@0xgbreil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5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-26580" y="622012"/>
            <a:ext cx="3607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3200" dirty="0" smtClean="0"/>
              <a:t>  </a:t>
            </a:r>
            <a:r>
              <a:rPr lang="en-US" sz="3200" dirty="0" smtClean="0"/>
              <a:t>Table </a:t>
            </a:r>
            <a:r>
              <a:rPr lang="en-US" sz="3200" dirty="0"/>
              <a:t>of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" y="1905000"/>
            <a:ext cx="61722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Introduction to </a:t>
            </a:r>
            <a:r>
              <a:rPr lang="en-US" sz="2000" dirty="0" smtClean="0"/>
              <a:t>DFIR</a:t>
            </a:r>
            <a:endParaRPr lang="ar-EG" sz="2000" dirty="0" smtClean="0"/>
          </a:p>
          <a:p>
            <a:endParaRPr lang="en-US" sz="2000" dirty="0"/>
          </a:p>
          <a:p>
            <a:r>
              <a:rPr lang="en-US" sz="2000" dirty="0" smtClean="0"/>
              <a:t>• </a:t>
            </a:r>
            <a:r>
              <a:rPr lang="en-US" sz="2000" dirty="0" err="1" smtClean="0"/>
              <a:t>Moudel</a:t>
            </a:r>
            <a:r>
              <a:rPr lang="en-US" sz="2000" dirty="0"/>
              <a:t> </a:t>
            </a:r>
            <a:r>
              <a:rPr lang="en-US" sz="2000" dirty="0" smtClean="0"/>
              <a:t>1 -  Intro to data acquisition</a:t>
            </a:r>
            <a:endParaRPr lang="ar-EG" sz="2000" dirty="0" smtClean="0"/>
          </a:p>
          <a:p>
            <a:endParaRPr lang="en-US" sz="2000" dirty="0"/>
          </a:p>
          <a:p>
            <a:r>
              <a:rPr lang="en-US" sz="2000" dirty="0" smtClean="0"/>
              <a:t>• </a:t>
            </a:r>
            <a:r>
              <a:rPr lang="en-US" sz="2000" dirty="0" err="1" smtClean="0"/>
              <a:t>Moudel</a:t>
            </a:r>
            <a:r>
              <a:rPr lang="en-US" sz="2000" dirty="0" smtClean="0"/>
              <a:t> 2 - </a:t>
            </a:r>
            <a:r>
              <a:rPr lang="en-US" sz="2000" dirty="0"/>
              <a:t>Evidence Acquisition &amp; </a:t>
            </a:r>
            <a:r>
              <a:rPr lang="en-US" sz="2000" dirty="0" smtClean="0"/>
              <a:t>Preservation</a:t>
            </a:r>
            <a:endParaRPr lang="ar-EG" sz="2000" dirty="0" smtClean="0"/>
          </a:p>
          <a:p>
            <a:endParaRPr lang="en-US" sz="2000" dirty="0"/>
          </a:p>
          <a:p>
            <a:r>
              <a:rPr lang="en-US" sz="2000" dirty="0" smtClean="0"/>
              <a:t>• </a:t>
            </a:r>
            <a:r>
              <a:rPr lang="en-US" sz="2000" dirty="0" err="1" smtClean="0"/>
              <a:t>Moudel</a:t>
            </a:r>
            <a:r>
              <a:rPr lang="en-US" sz="2000" dirty="0" smtClean="0"/>
              <a:t> 3 - Intro to  </a:t>
            </a:r>
            <a:r>
              <a:rPr lang="en-US" sz="2000" dirty="0"/>
              <a:t>Incident </a:t>
            </a:r>
            <a:r>
              <a:rPr lang="en-US" sz="2000" dirty="0" smtClean="0"/>
              <a:t>Response</a:t>
            </a:r>
            <a:endParaRPr lang="ar-EG" sz="2000" dirty="0" smtClean="0"/>
          </a:p>
          <a:p>
            <a:endParaRPr lang="en-US" sz="2000" dirty="0"/>
          </a:p>
          <a:p>
            <a:r>
              <a:rPr lang="en-US" sz="2000" dirty="0"/>
              <a:t>• </a:t>
            </a:r>
            <a:r>
              <a:rPr lang="en-US" sz="2000" dirty="0" err="1" smtClean="0"/>
              <a:t>Moudel</a:t>
            </a:r>
            <a:r>
              <a:rPr lang="en-US" sz="2000" dirty="0" smtClean="0"/>
              <a:t> 4 - Email Analysis</a:t>
            </a:r>
            <a:endParaRPr lang="ar-EG" sz="2000" dirty="0" smtClean="0"/>
          </a:p>
          <a:p>
            <a:endParaRPr lang="en-US" sz="2000" dirty="0"/>
          </a:p>
          <a:p>
            <a:r>
              <a:rPr lang="en-US" sz="2000" dirty="0"/>
              <a:t>• </a:t>
            </a:r>
            <a:r>
              <a:rPr lang="en-US" sz="2000" dirty="0" err="1" smtClean="0"/>
              <a:t>Moudel</a:t>
            </a:r>
            <a:r>
              <a:rPr lang="en-US" sz="2000" dirty="0" smtClean="0"/>
              <a:t> 5 - Windows Forensics</a:t>
            </a:r>
            <a:endParaRPr lang="ar-EG" sz="2000" dirty="0" smtClean="0"/>
          </a:p>
          <a:p>
            <a:endParaRPr lang="en-US" sz="2000" dirty="0"/>
          </a:p>
          <a:p>
            <a:r>
              <a:rPr lang="en-US" sz="2000" dirty="0"/>
              <a:t>• </a:t>
            </a:r>
            <a:r>
              <a:rPr lang="en-US" sz="2000" dirty="0" err="1" smtClean="0"/>
              <a:t>Moudel</a:t>
            </a:r>
            <a:r>
              <a:rPr lang="en-US" sz="2000" dirty="0" smtClean="0"/>
              <a:t> 6 - Linux </a:t>
            </a:r>
            <a:r>
              <a:rPr lang="en-US" sz="2000" dirty="0"/>
              <a:t>Forensics</a:t>
            </a:r>
          </a:p>
        </p:txBody>
      </p:sp>
    </p:spTree>
    <p:extLst>
      <p:ext uri="{BB962C8B-B14F-4D97-AF65-F5344CB8AC3E}">
        <p14:creationId xmlns:p14="http://schemas.microsoft.com/office/powerpoint/2010/main" val="155416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4800" y="762000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</a:t>
            </a:r>
            <a:r>
              <a:rPr lang="en-US" dirty="0" err="1" smtClean="0"/>
              <a:t>Moudel</a:t>
            </a:r>
            <a:r>
              <a:rPr lang="en-US" dirty="0" smtClean="0"/>
              <a:t> 7 - </a:t>
            </a:r>
            <a:r>
              <a:rPr lang="en-US" dirty="0"/>
              <a:t>Memory Forensics</a:t>
            </a:r>
            <a:endParaRPr lang="ar-EG" dirty="0"/>
          </a:p>
          <a:p>
            <a:endParaRPr lang="en-US" dirty="0"/>
          </a:p>
          <a:p>
            <a:r>
              <a:rPr lang="en-US" dirty="0" smtClean="0"/>
              <a:t>• </a:t>
            </a:r>
            <a:r>
              <a:rPr lang="en-US" dirty="0" err="1" smtClean="0"/>
              <a:t>Moudel</a:t>
            </a:r>
            <a:r>
              <a:rPr lang="en-US" dirty="0" smtClean="0"/>
              <a:t> 8 -  </a:t>
            </a:r>
            <a:r>
              <a:rPr lang="en-US" dirty="0"/>
              <a:t>Network Forensics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34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9696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69696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" y="5334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Cybersecurity: Offensive vs Defensive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" y="1219200"/>
            <a:ext cx="49530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Cybersecurity is generally divided into two main areas:</a:t>
            </a:r>
          </a:p>
          <a:p>
            <a:endParaRPr lang="en-US" dirty="0"/>
          </a:p>
          <a:p>
            <a:r>
              <a:rPr lang="en-US" sz="2000" dirty="0"/>
              <a:t>Offensive Security</a:t>
            </a:r>
            <a:r>
              <a:rPr lang="en-US" dirty="0" smtClean="0"/>
              <a:t>:</a:t>
            </a:r>
            <a:endParaRPr lang="ar-EG" dirty="0" smtClean="0"/>
          </a:p>
          <a:p>
            <a:endParaRPr lang="en-US" dirty="0"/>
          </a:p>
          <a:p>
            <a:r>
              <a:rPr lang="en-US" dirty="0"/>
              <a:t>• Penetration Testing</a:t>
            </a:r>
          </a:p>
          <a:p>
            <a:r>
              <a:rPr lang="en-US" dirty="0"/>
              <a:t>• Red Teaming</a:t>
            </a:r>
          </a:p>
          <a:p>
            <a:r>
              <a:rPr lang="en-US" dirty="0"/>
              <a:t>• Bug Hunting</a:t>
            </a:r>
          </a:p>
          <a:p>
            <a:r>
              <a:rPr lang="en-US" dirty="0"/>
              <a:t>• Identifying and exploiting vulnerabilities legally</a:t>
            </a:r>
          </a:p>
          <a:p>
            <a:r>
              <a:rPr lang="en-US" dirty="0"/>
              <a:t>• Testing systems before real attackers do</a:t>
            </a:r>
          </a:p>
          <a:p>
            <a:endParaRPr lang="en-US" dirty="0"/>
          </a:p>
          <a:p>
            <a:r>
              <a:rPr lang="en-US" sz="2000" dirty="0"/>
              <a:t>Defensive Security</a:t>
            </a:r>
            <a:r>
              <a:rPr lang="en-US" dirty="0" smtClean="0"/>
              <a:t>:</a:t>
            </a:r>
            <a:endParaRPr lang="ar-EG" dirty="0" smtClean="0"/>
          </a:p>
          <a:p>
            <a:endParaRPr lang="en-US" dirty="0"/>
          </a:p>
          <a:p>
            <a:r>
              <a:rPr lang="en-US" dirty="0"/>
              <a:t>• DFIR</a:t>
            </a:r>
          </a:p>
          <a:p>
            <a:r>
              <a:rPr lang="en-US" dirty="0"/>
              <a:t>• SOC Operations</a:t>
            </a:r>
          </a:p>
          <a:p>
            <a:r>
              <a:rPr lang="en-US" dirty="0"/>
              <a:t>• Threat Hunting</a:t>
            </a:r>
          </a:p>
          <a:p>
            <a:r>
              <a:rPr lang="en-US" dirty="0"/>
              <a:t>• Malware Analysis</a:t>
            </a:r>
          </a:p>
          <a:p>
            <a:r>
              <a:rPr lang="en-US" dirty="0"/>
              <a:t>• Detecting, responding to, and preventing attacks</a:t>
            </a:r>
          </a:p>
        </p:txBody>
      </p:sp>
    </p:spTree>
    <p:extLst>
      <p:ext uri="{BB962C8B-B14F-4D97-AF65-F5344CB8AC3E}">
        <p14:creationId xmlns:p14="http://schemas.microsoft.com/office/powerpoint/2010/main" val="106134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611832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is DFIR?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76400"/>
            <a:ext cx="7391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• DFIR = Digital Forensics &amp; Incident Response</a:t>
            </a:r>
            <a:endParaRPr lang="ar-EG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• A field focused on investigating and responding to cyber incidents</a:t>
            </a:r>
            <a:endParaRPr lang="ar-EG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• Helps understand what happened, how it happened, and how to prevent it</a:t>
            </a:r>
            <a:endParaRPr lang="ar-EG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• Used in security operations, investigations, and incident handling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1556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68580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DFIR stands for Digital Forensics &amp; Incident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242" y="1679275"/>
            <a:ext cx="6019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 combines digital investigation and incident handling.</a:t>
            </a:r>
          </a:p>
          <a:p>
            <a:endParaRPr lang="en-US" sz="2000" dirty="0"/>
          </a:p>
          <a:p>
            <a:r>
              <a:rPr lang="en-US" sz="2000" b="1" dirty="0"/>
              <a:t>Digital Forensics</a:t>
            </a:r>
            <a:r>
              <a:rPr lang="en-US" sz="2000" dirty="0" smtClean="0"/>
              <a:t>:</a:t>
            </a:r>
            <a:endParaRPr lang="ar-EG" sz="2000" dirty="0" smtClean="0"/>
          </a:p>
          <a:p>
            <a:endParaRPr lang="en-US" sz="2000" dirty="0"/>
          </a:p>
          <a:p>
            <a:r>
              <a:rPr lang="en-US" sz="2000" dirty="0"/>
              <a:t>• Collecting digital evidence</a:t>
            </a:r>
          </a:p>
          <a:p>
            <a:endParaRPr lang="ar-EG" sz="2000" dirty="0" smtClean="0"/>
          </a:p>
          <a:p>
            <a:r>
              <a:rPr lang="en-US" sz="2000" dirty="0" smtClean="0"/>
              <a:t>• </a:t>
            </a:r>
            <a:r>
              <a:rPr lang="en-US" sz="2000" dirty="0"/>
              <a:t>Analyzing </a:t>
            </a:r>
            <a:r>
              <a:rPr lang="en-US" sz="2000" dirty="0" smtClean="0"/>
              <a:t>artifacts</a:t>
            </a:r>
            <a:endParaRPr lang="ar-EG" sz="2000" dirty="0" smtClean="0"/>
          </a:p>
          <a:p>
            <a:endParaRPr lang="en-US" sz="2000" dirty="0"/>
          </a:p>
          <a:p>
            <a:r>
              <a:rPr lang="en-US" sz="2000" dirty="0"/>
              <a:t>• Reconstructing what happened</a:t>
            </a:r>
          </a:p>
          <a:p>
            <a:endParaRPr lang="ar-EG" sz="2000" dirty="0" smtClean="0"/>
          </a:p>
          <a:p>
            <a:r>
              <a:rPr lang="en-US" sz="2000" dirty="0" smtClean="0"/>
              <a:t>• </a:t>
            </a:r>
            <a:r>
              <a:rPr lang="en-US" sz="2000" dirty="0"/>
              <a:t>Answering</a:t>
            </a:r>
            <a:r>
              <a:rPr lang="en-US" sz="2000" dirty="0" smtClean="0"/>
              <a:t>:</a:t>
            </a:r>
            <a:endParaRPr lang="ar-EG" sz="2000" dirty="0" smtClean="0"/>
          </a:p>
          <a:p>
            <a:r>
              <a:rPr lang="ar-EG" sz="2000" dirty="0" smtClean="0"/>
              <a:t>  </a:t>
            </a:r>
            <a:r>
              <a:rPr lang="en-US" sz="2000" dirty="0" smtClean="0"/>
              <a:t>- What happened?</a:t>
            </a:r>
          </a:p>
          <a:p>
            <a:r>
              <a:rPr lang="en-US" sz="2000" dirty="0" smtClean="0"/>
              <a:t>  - </a:t>
            </a:r>
            <a:r>
              <a:rPr lang="en-US" sz="2000" dirty="0"/>
              <a:t>When did it happen?</a:t>
            </a:r>
          </a:p>
          <a:p>
            <a:r>
              <a:rPr lang="en-US" sz="2000" dirty="0"/>
              <a:t>  - How did it happen?</a:t>
            </a:r>
          </a:p>
        </p:txBody>
      </p:sp>
    </p:spTree>
    <p:extLst>
      <p:ext uri="{BB962C8B-B14F-4D97-AF65-F5344CB8AC3E}">
        <p14:creationId xmlns:p14="http://schemas.microsoft.com/office/powerpoint/2010/main" val="84640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532" y="632604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Incident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47799"/>
            <a:ext cx="6172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Incident Response is the process of handling a security incident</a:t>
            </a:r>
          </a:p>
          <a:p>
            <a:r>
              <a:rPr lang="en-US" dirty="0"/>
              <a:t>to reduce damage and restore systems safely.</a:t>
            </a:r>
          </a:p>
          <a:p>
            <a:endParaRPr lang="en-US" dirty="0"/>
          </a:p>
          <a:p>
            <a:r>
              <a:rPr lang="en-US" dirty="0"/>
              <a:t>Main Goals:</a:t>
            </a:r>
          </a:p>
          <a:p>
            <a:r>
              <a:rPr lang="en-US" dirty="0"/>
              <a:t>• Detect the incident</a:t>
            </a:r>
          </a:p>
          <a:p>
            <a:r>
              <a:rPr lang="en-US" dirty="0"/>
              <a:t>• Contain the attack</a:t>
            </a:r>
          </a:p>
          <a:p>
            <a:r>
              <a:rPr lang="en-US" dirty="0"/>
              <a:t>• Remove the threat</a:t>
            </a:r>
          </a:p>
          <a:p>
            <a:r>
              <a:rPr lang="en-US" dirty="0"/>
              <a:t>• Recover systems</a:t>
            </a:r>
          </a:p>
          <a:p>
            <a:r>
              <a:rPr lang="en-US" dirty="0"/>
              <a:t>• Prevent it from happening again</a:t>
            </a:r>
          </a:p>
          <a:p>
            <a:endParaRPr lang="en-US" dirty="0"/>
          </a:p>
          <a:p>
            <a:r>
              <a:rPr lang="en-US" dirty="0"/>
              <a:t>It follows clear steps:</a:t>
            </a:r>
          </a:p>
          <a:p>
            <a:r>
              <a:rPr lang="en-US" dirty="0"/>
              <a:t>• Preparation</a:t>
            </a:r>
          </a:p>
          <a:p>
            <a:r>
              <a:rPr lang="en-US" dirty="0"/>
              <a:t>• Detection</a:t>
            </a:r>
          </a:p>
          <a:p>
            <a:r>
              <a:rPr lang="en-US" dirty="0"/>
              <a:t>• Containment</a:t>
            </a:r>
          </a:p>
          <a:p>
            <a:r>
              <a:rPr lang="en-US" dirty="0"/>
              <a:t>• Recovery</a:t>
            </a:r>
          </a:p>
          <a:p>
            <a:r>
              <a:rPr lang="en-US" dirty="0"/>
              <a:t>• 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170161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8600" y="448574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Prerequisites for This </a:t>
            </a:r>
            <a:r>
              <a:rPr lang="en-US" sz="2800" dirty="0" smtClean="0"/>
              <a:t>Course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1066800"/>
            <a:ext cx="8001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starting this course, you should have basic knowledge</a:t>
            </a:r>
          </a:p>
          <a:p>
            <a:r>
              <a:rPr lang="en-US" dirty="0"/>
              <a:t>of fundamental cybersecurity concepts.</a:t>
            </a:r>
          </a:p>
          <a:p>
            <a:endParaRPr lang="en-US" dirty="0"/>
          </a:p>
          <a:p>
            <a:r>
              <a:rPr lang="en-US" dirty="0"/>
              <a:t>Recommended Background:</a:t>
            </a:r>
          </a:p>
          <a:p>
            <a:endParaRPr lang="en-US" dirty="0"/>
          </a:p>
          <a:p>
            <a:r>
              <a:rPr lang="en-US" dirty="0"/>
              <a:t>• Basic networking concepts</a:t>
            </a:r>
          </a:p>
          <a:p>
            <a:r>
              <a:rPr lang="en-US" dirty="0"/>
              <a:t>  - What is a network?</a:t>
            </a:r>
          </a:p>
          <a:p>
            <a:r>
              <a:rPr lang="en-US" dirty="0"/>
              <a:t>  - Understanding the OSI model</a:t>
            </a:r>
          </a:p>
          <a:p>
            <a:r>
              <a:rPr lang="en-US" dirty="0"/>
              <a:t>  - How devices communicate</a:t>
            </a:r>
          </a:p>
          <a:p>
            <a:endParaRPr lang="en-US" dirty="0"/>
          </a:p>
          <a:p>
            <a:r>
              <a:rPr lang="en-US" dirty="0"/>
              <a:t>• Common networking terms</a:t>
            </a:r>
          </a:p>
          <a:p>
            <a:r>
              <a:rPr lang="en-US" dirty="0"/>
              <a:t>  - IP address</a:t>
            </a:r>
          </a:p>
          <a:p>
            <a:r>
              <a:rPr lang="en-US" dirty="0"/>
              <a:t>  - MAC address</a:t>
            </a:r>
          </a:p>
          <a:p>
            <a:endParaRPr lang="en-US" dirty="0"/>
          </a:p>
          <a:p>
            <a:r>
              <a:rPr lang="en-US" dirty="0"/>
              <a:t>• Basic operating system knowledge</a:t>
            </a:r>
          </a:p>
          <a:p>
            <a:r>
              <a:rPr lang="en-US" dirty="0"/>
              <a:t>  - Windows fundamentals</a:t>
            </a:r>
          </a:p>
          <a:p>
            <a:r>
              <a:rPr lang="en-US" dirty="0"/>
              <a:t>  - Linux basics</a:t>
            </a:r>
          </a:p>
          <a:p>
            <a:r>
              <a:rPr lang="en-US" dirty="0"/>
              <a:t>  - Basic command-line </a:t>
            </a:r>
            <a:r>
              <a:rPr lang="en-US" dirty="0" smtClean="0"/>
              <a:t>usage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5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44415" y="609600"/>
            <a:ext cx="571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Important Notes About This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166" y="1719532"/>
            <a:ext cx="8686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This course does not cover DFIR from A to </a:t>
            </a:r>
            <a:r>
              <a:rPr lang="en-US" sz="2000" dirty="0" smtClean="0"/>
              <a:t>Z</a:t>
            </a:r>
            <a:endParaRPr lang="ar-EG" sz="2000" dirty="0"/>
          </a:p>
          <a:p>
            <a:endParaRPr lang="en-US" sz="2000" dirty="0"/>
          </a:p>
          <a:p>
            <a:r>
              <a:rPr lang="en-US" sz="2000" dirty="0"/>
              <a:t>• Focus on strong fundamentals and practical </a:t>
            </a:r>
            <a:r>
              <a:rPr lang="en-US" sz="2000" dirty="0" smtClean="0"/>
              <a:t>understanding</a:t>
            </a:r>
            <a:endParaRPr lang="ar-EG" sz="2000" dirty="0" smtClean="0"/>
          </a:p>
          <a:p>
            <a:endParaRPr lang="en-US" sz="2000" dirty="0"/>
          </a:p>
          <a:p>
            <a:r>
              <a:rPr lang="en-US" sz="2000" dirty="0"/>
              <a:t>• Additional references and articles provided in each </a:t>
            </a:r>
            <a:r>
              <a:rPr lang="en-US" sz="2000" dirty="0" smtClean="0"/>
              <a:t>module</a:t>
            </a:r>
            <a:endParaRPr lang="ar-EG" sz="2000" dirty="0" smtClean="0"/>
          </a:p>
          <a:p>
            <a:endParaRPr lang="en-US" sz="2000" dirty="0"/>
          </a:p>
          <a:p>
            <a:r>
              <a:rPr lang="en-US" sz="2000" dirty="0"/>
              <a:t>• Information verified from multiple reliable </a:t>
            </a:r>
            <a:r>
              <a:rPr lang="en-US" sz="2000" dirty="0" smtClean="0"/>
              <a:t>sources</a:t>
            </a:r>
            <a:endParaRPr lang="ar-EG" sz="2000" dirty="0" smtClean="0"/>
          </a:p>
          <a:p>
            <a:endParaRPr lang="ar-EG" sz="2000" dirty="0" smtClean="0"/>
          </a:p>
          <a:p>
            <a:r>
              <a:rPr lang="en-US" sz="2000" dirty="0" smtClean="0"/>
              <a:t>• </a:t>
            </a:r>
            <a:r>
              <a:rPr lang="en-US" sz="2000" dirty="0"/>
              <a:t>All materials available on GitHub (slides &amp; resources</a:t>
            </a:r>
            <a:r>
              <a:rPr lang="en-US" sz="2000" dirty="0" smtClean="0"/>
              <a:t>)</a:t>
            </a:r>
            <a:endParaRPr lang="ar-EG" sz="2000" dirty="0" smtClean="0"/>
          </a:p>
          <a:p>
            <a:endParaRPr lang="en-US" sz="2000" dirty="0"/>
          </a:p>
          <a:p>
            <a:r>
              <a:rPr lang="en-US" sz="2000" dirty="0"/>
              <a:t>• Feedback and corrections are always welcome</a:t>
            </a:r>
          </a:p>
        </p:txBody>
      </p:sp>
    </p:spTree>
    <p:extLst>
      <p:ext uri="{BB962C8B-B14F-4D97-AF65-F5344CB8AC3E}">
        <p14:creationId xmlns:p14="http://schemas.microsoft.com/office/powerpoint/2010/main" val="336544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19400" y="2229653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Thanks </a:t>
            </a:r>
            <a:r>
              <a:rPr lang="en-US" sz="3200" dirty="0"/>
              <a:t>for </a:t>
            </a:r>
            <a:r>
              <a:rPr lang="en-US" sz="3200" dirty="0" smtClean="0"/>
              <a:t>Watching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200400" y="3048000"/>
            <a:ext cx="213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Contact: 0xgbreil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653" y="3153397"/>
            <a:ext cx="190348" cy="1903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420" y="3105180"/>
            <a:ext cx="5080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1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2115</TotalTime>
  <Words>467</Words>
  <Application>Microsoft Office PowerPoint</Application>
  <PresentationFormat>On-screen Show (4:3)</PresentationFormat>
  <Paragraphs>141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CTF</dc:title>
  <dc:creator>s</dc:creator>
  <cp:lastModifiedBy>s</cp:lastModifiedBy>
  <cp:revision>31</cp:revision>
  <dcterms:created xsi:type="dcterms:W3CDTF">2025-06-05T05:35:27Z</dcterms:created>
  <dcterms:modified xsi:type="dcterms:W3CDTF">2026-02-17T16:19:50Z</dcterms:modified>
</cp:coreProperties>
</file>